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88825"/>
  <p:notesSz cx="6858000" cy="121888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hd3s/WS78QTQxKaikMWlZl25Pw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" name="Google Shape;6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8" name="Google Shape;30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7" name="Google Shape;35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2" name="Google Shape;39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1.png"/><Relationship Id="rId6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21.png"/><Relationship Id="rId8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9" Type="http://schemas.openxmlformats.org/officeDocument/2006/relationships/image" Target="../media/image22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Relationship Id="rId7" Type="http://schemas.openxmlformats.org/officeDocument/2006/relationships/image" Target="../media/image28.png"/><Relationship Id="rId8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Relationship Id="rId5" Type="http://schemas.openxmlformats.org/officeDocument/2006/relationships/image" Target="../media/image27.png"/><Relationship Id="rId6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bg_portada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logo_blanco.png" id="17" name="Google Shape;1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" y="384048"/>
            <a:ext cx="1234440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502920" y="22860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0D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A0DE"/>
                </a:solidFill>
                <a:latin typeface="Arial"/>
                <a:ea typeface="Arial"/>
                <a:cs typeface="Arial"/>
                <a:sym typeface="Arial"/>
              </a:rPr>
              <a:t>MÓDULO 1 · FUNDAMENTOS Y MENTALIDAD DE DATOS — CLASE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02920" y="2697480"/>
            <a:ext cx="10789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Bienvenidos al Bootcamp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02920" y="361188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0DE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0A0DE"/>
                </a:solidFill>
                <a:latin typeface="Arial"/>
                <a:ea typeface="Arial"/>
                <a:cs typeface="Arial"/>
                <a:sym typeface="Arial"/>
              </a:rPr>
              <a:t>de Ciencia de Datos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02920" y="466344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6D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9D6DE"/>
                </a:solidFill>
                <a:latin typeface="Arial"/>
                <a:ea typeface="Arial"/>
                <a:cs typeface="Arial"/>
                <a:sym typeface="Arial"/>
              </a:rPr>
              <a:t>Bootcamp de Ciencia de Datos · 2 horas · ¿Cómo aportan valor los datos en diferentes profesiones?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banda_superior.png" id="27" name="Google Shape;2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"/>
          <p:cNvSpPr/>
          <p:nvPr/>
        </p:nvSpPr>
        <p:spPr>
          <a:xfrm>
            <a:off x="502920" y="115214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BIENVENIDA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02920" y="1426464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El mapa del bootcamp: 6 módulos, 32 clases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Bootcamp de Ciencia de Datos · Clase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02920" y="2148840"/>
            <a:ext cx="2697480" cy="1234440"/>
          </a:xfrm>
          <a:prstGeom prst="roundRect">
            <a:avLst>
              <a:gd fmla="val 6667" name="adj"/>
            </a:avLst>
          </a:prstGeom>
          <a:solidFill>
            <a:srgbClr val="013A52"/>
          </a:solidFill>
          <a:ln cap="flat" cmpd="sng" w="12700">
            <a:solidFill>
              <a:srgbClr val="01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85800" y="229514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0D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A0DE"/>
                </a:solidFill>
                <a:latin typeface="Arial"/>
                <a:ea typeface="Arial"/>
                <a:cs typeface="Arial"/>
                <a:sym typeface="Arial"/>
              </a:rPr>
              <a:t>MÓDULO 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85800" y="2551176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Fundamentos y Mentalidad de Datos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85800" y="3044952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E0EC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FE0EC"/>
                </a:solidFill>
                <a:latin typeface="Arial"/>
                <a:ea typeface="Arial"/>
                <a:cs typeface="Arial"/>
                <a:sym typeface="Arial"/>
              </a:rPr>
              <a:t>Estamos aquí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3392424" y="2148840"/>
            <a:ext cx="2697480" cy="1234440"/>
          </a:xfrm>
          <a:prstGeom prst="roundRect">
            <a:avLst>
              <a:gd fmla="val 6667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575304" y="229514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MÓDULO 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575304" y="2551176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Python para Análisis de Datos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575304" y="3044952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Variables, estructuras, funciones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281928" y="2148840"/>
            <a:ext cx="2697480" cy="1234440"/>
          </a:xfrm>
          <a:prstGeom prst="roundRect">
            <a:avLst>
              <a:gd fmla="val 6667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464808" y="229514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MÓDULO 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464808" y="2551176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Visualización y Business Intelligence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464808" y="3044952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Gráficas, EDA, Power BI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9171432" y="2148840"/>
            <a:ext cx="2697480" cy="1234440"/>
          </a:xfrm>
          <a:prstGeom prst="roundRect">
            <a:avLst>
              <a:gd fmla="val 6667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9354312" y="229514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MÓDULO 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9354312" y="2551176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Extracción de Datos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9354312" y="3044952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Bases de datos, SQL, APIs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02920" y="3703320"/>
            <a:ext cx="2697480" cy="1234440"/>
          </a:xfrm>
          <a:prstGeom prst="roundRect">
            <a:avLst>
              <a:gd fmla="val 6667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85800" y="384962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MÓDULO 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85800" y="4105656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Machine Learning Básico y Aplicado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85800" y="4599432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Clasificación, regresión, clustering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392424" y="3703320"/>
            <a:ext cx="2697480" cy="1234440"/>
          </a:xfrm>
          <a:prstGeom prst="roundRect">
            <a:avLst>
              <a:gd fmla="val 6667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3575304" y="384962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MÓDULO 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3575304" y="4105656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Proyecto Final y Cierre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3575304" y="4599432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Deep Learning, NLP, tu proyecto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281928" y="3703320"/>
            <a:ext cx="2697480" cy="1234440"/>
          </a:xfrm>
          <a:prstGeom prst="roundRect">
            <a:avLst>
              <a:gd fmla="val 6667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464808" y="384962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32 CLASES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6464808" y="4105656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Tu recorrido completo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464808" y="4599432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Mayo a septiembre, 2 clases por semana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9171432" y="3703320"/>
            <a:ext cx="2697480" cy="123444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5875">
            <a:solidFill>
              <a:srgbClr val="E08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9354312" y="384962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A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08A00"/>
                </a:solidFill>
                <a:latin typeface="Arial"/>
                <a:ea typeface="Arial"/>
                <a:cs typeface="Arial"/>
                <a:sym typeface="Arial"/>
              </a:rPr>
              <a:t>CÓMO TRABAJAMOS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9354312" y="4105656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Teoría + práctica en cada módulo · talleres integradores · proyecto final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502920" y="5349240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Cada módulo construye sobre el anterior: hoy sientan las bases de cómo pensar con datos, antes de escribir una sola línea de código.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banda_superior.png" id="68" name="Google Shape;6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"/>
          <p:cNvSpPr/>
          <p:nvPr/>
        </p:nvSpPr>
        <p:spPr>
          <a:xfrm>
            <a:off x="502920" y="115214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ANTES DE EMPEZAR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502920" y="1426464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Cuéntanos de ti: formulario de bienvenida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Bootcamp de Ciencia de Datos · Clase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502920" y="2103120"/>
            <a:ext cx="5029200" cy="3977640"/>
          </a:xfrm>
          <a:prstGeom prst="roundRect">
            <a:avLst>
              <a:gd fmla="val 2299" name="adj"/>
            </a:avLst>
          </a:prstGeom>
          <a:solidFill>
            <a:srgbClr val="013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600200" y="2441448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Tómate 3 minutos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868680" y="3200400"/>
            <a:ext cx="4297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0D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A0DE"/>
                </a:solidFill>
                <a:latin typeface="Arial"/>
                <a:ea typeface="Arial"/>
                <a:cs typeface="Arial"/>
                <a:sym typeface="Arial"/>
              </a:rPr>
              <a:t>Entra al enlace</a:t>
            </a:r>
            <a:r>
              <a:rPr b="1" lang="en-US" sz="1500">
                <a:solidFill>
                  <a:srgbClr val="00A0DE"/>
                </a:solidFill>
              </a:rPr>
              <a:t> </a:t>
            </a:r>
            <a:r>
              <a:rPr b="1" i="0" lang="en-US" sz="1500" u="none" cap="none" strike="noStrike">
                <a:solidFill>
                  <a:srgbClr val="00A0DE"/>
                </a:solidFill>
                <a:latin typeface="Arial"/>
                <a:ea typeface="Arial"/>
                <a:cs typeface="Arial"/>
                <a:sym typeface="Arial"/>
              </a:rPr>
              <a:t>y diligencia el formulario antes de seguir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868680" y="3977640"/>
            <a:ext cx="43434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F1F7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E6F1F7"/>
                </a:solidFill>
                <a:latin typeface="Arial"/>
                <a:ea typeface="Arial"/>
                <a:cs typeface="Arial"/>
                <a:sym typeface="Arial"/>
              </a:rPr>
              <a:t>Tu nombre y tu edad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6F1F7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E6F1F7"/>
                </a:solidFill>
                <a:latin typeface="Arial"/>
                <a:ea typeface="Arial"/>
                <a:cs typeface="Arial"/>
                <a:sym typeface="Arial"/>
              </a:rPr>
              <a:t>El área en la que trabajas actualmente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6F1F7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E6F1F7"/>
                </a:solidFill>
                <a:latin typeface="Arial"/>
                <a:ea typeface="Arial"/>
                <a:cs typeface="Arial"/>
                <a:sym typeface="Arial"/>
              </a:rPr>
              <a:t>Tu experiencia previa con lenguajes de programación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6F1F7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E6F1F7"/>
                </a:solidFill>
                <a:latin typeface="Arial"/>
                <a:ea typeface="Arial"/>
                <a:cs typeface="Arial"/>
                <a:sym typeface="Arial"/>
              </a:rPr>
              <a:t>Tus expectativas frente al curso, y tu experiencia con Excel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5989320" y="21031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¿Por qué preguntamos esto?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989320" y="2606040"/>
            <a:ext cx="5669280" cy="1051560"/>
          </a:xfrm>
          <a:prstGeom prst="roundRect">
            <a:avLst>
              <a:gd fmla="val 7826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8" name="Google Shape;7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3640" y="29077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"/>
          <p:cNvSpPr/>
          <p:nvPr/>
        </p:nvSpPr>
        <p:spPr>
          <a:xfrm>
            <a:off x="6903720" y="2752344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Para conocer al grupo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903720" y="3063240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Cada cohorte es distinta: saber de dónde vienen nos ayuda a poner ejemplos que les hagan sentido a ustedes.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989320" y="3813048"/>
            <a:ext cx="5669280" cy="1051560"/>
          </a:xfrm>
          <a:prstGeom prst="roundRect">
            <a:avLst>
              <a:gd fmla="val 7826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2" name="Google Shape;8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3640" y="41148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3"/>
          <p:cNvSpPr/>
          <p:nvPr/>
        </p:nvSpPr>
        <p:spPr>
          <a:xfrm>
            <a:off x="6903720" y="395935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Para calibrar el ritmo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903720" y="4270248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Si la mayoría ya programó antes, avanzamos distinto que si es la primera vez de todos.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5989320" y="5020056"/>
            <a:ext cx="5669280" cy="1051560"/>
          </a:xfrm>
          <a:prstGeom prst="roundRect">
            <a:avLst>
              <a:gd fmla="val 7826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6" name="Google Shape;8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63640" y="532180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/>
          <p:nvPr/>
        </p:nvSpPr>
        <p:spPr>
          <a:xfrm>
            <a:off x="6903720" y="51663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Para cerrar el círculo al final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6903720" y="5477256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Al terminar el bootcamp, vamos a volver a estas expectativas para ver cuántas cumplimos.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5989320" y="6217920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150"/>
              <a:buFont typeface="Arial"/>
              <a:buNone/>
            </a:pPr>
            <a:r>
              <a:rPr b="0" i="1" lang="en-US" sz="115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Esto también es un dato: lo que nos cuenten hoy es la primera información que vamos a analizar juntos como grupo.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banda_superior.png" id="95" name="Google Shape;9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4"/>
          <p:cNvSpPr/>
          <p:nvPr/>
        </p:nvSpPr>
        <p:spPr>
          <a:xfrm>
            <a:off x="502920" y="115214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CLASE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502920" y="1426464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Lo que vamos a lograr hoy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Bootcamp de Ciencia de Datos · Clase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02920" y="2148840"/>
            <a:ext cx="3575304" cy="3291840"/>
          </a:xfrm>
          <a:prstGeom prst="roundRect">
            <a:avLst>
              <a:gd fmla="val 2778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822960" y="2514600"/>
            <a:ext cx="868680" cy="86868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89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1" name="Google Shape;10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4128" y="2715768"/>
            <a:ext cx="466344" cy="46634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"/>
          <p:cNvSpPr/>
          <p:nvPr/>
        </p:nvSpPr>
        <p:spPr>
          <a:xfrm>
            <a:off x="3118104" y="2377440"/>
            <a:ext cx="777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EA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D7E3E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822960" y="365760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Entender qué es la Ciencia de Datos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822960" y="4114800"/>
            <a:ext cx="297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Y por qué aporta valor en profesiones muy distintas entre sí, no solo en tecnología.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306824" y="2148840"/>
            <a:ext cx="3575304" cy="3291840"/>
          </a:xfrm>
          <a:prstGeom prst="roundRect">
            <a:avLst>
              <a:gd fmla="val 2778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626864" y="2514600"/>
            <a:ext cx="868680" cy="86868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89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7" name="Google Shape;10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28032" y="2715768"/>
            <a:ext cx="466344" cy="46634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/>
          <p:nvPr/>
        </p:nvSpPr>
        <p:spPr>
          <a:xfrm>
            <a:off x="6922008" y="2377440"/>
            <a:ext cx="777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EA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D7E3E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4626864" y="365760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Analizar datos reales, en grupo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626864" y="4114800"/>
            <a:ext cx="297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Con un ejercicio práctico en Excel, sin necesitar código todavía.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8110728" y="2148840"/>
            <a:ext cx="3575304" cy="3291840"/>
          </a:xfrm>
          <a:prstGeom prst="roundRect">
            <a:avLst>
              <a:gd fmla="val 2778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8430768" y="2514600"/>
            <a:ext cx="868680" cy="86868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89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3" name="Google Shape;11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31936" y="2715768"/>
            <a:ext cx="466344" cy="46634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/>
          <p:nvPr/>
        </p:nvSpPr>
        <p:spPr>
          <a:xfrm>
            <a:off x="10725912" y="2377440"/>
            <a:ext cx="777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EA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D7E3E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8430768" y="365760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Conocer las herramientas y el camino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8430768" y="4114800"/>
            <a:ext cx="297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Qué vamos a usar, y cómo se va a desarrollar el bootcamp de aquí a septiembre.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02920" y="580644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Al final de la clase: la mentalidad de análisis de datos, antes de tocar una sola línea de código.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banda_superior.png" id="123" name="Google Shape;12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5"/>
          <p:cNvSpPr/>
          <p:nvPr/>
        </p:nvSpPr>
        <p:spPr>
          <a:xfrm>
            <a:off x="502920" y="115214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CLASE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502920" y="1426464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Cronograma de hoy · 2 horas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Bootcamp de Ciencia de Datos · Clase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502920" y="2148840"/>
            <a:ext cx="11155680" cy="585216"/>
          </a:xfrm>
          <a:prstGeom prst="roundRect">
            <a:avLst>
              <a:gd fmla="val 10938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777240" y="2221992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00:00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1920240" y="222199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Bienvenida y formulario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10241280" y="2221992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10 min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502920" y="2843784"/>
            <a:ext cx="11155680" cy="585216"/>
          </a:xfrm>
          <a:prstGeom prst="roundRect">
            <a:avLst>
              <a:gd fmla="val 10938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777240" y="2916936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00:10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1920240" y="2916936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¿Qué han escuchado de análisis de datos?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10241280" y="2916936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15 min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502920" y="3538728"/>
            <a:ext cx="11155680" cy="585216"/>
          </a:xfrm>
          <a:prstGeom prst="roundRect">
            <a:avLst>
              <a:gd fmla="val 10938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777240" y="361188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00:25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1920240" y="36118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¿Qué es la Ciencia de Datos?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10241280" y="361188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20 min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02920" y="4233672"/>
            <a:ext cx="11155680" cy="585216"/>
          </a:xfrm>
          <a:prstGeom prst="roundRect">
            <a:avLst>
              <a:gd fmla="val 10938" name="adj"/>
            </a:avLst>
          </a:prstGeom>
          <a:solidFill>
            <a:srgbClr val="E08A00"/>
          </a:solidFill>
          <a:ln cap="flat" cmpd="sng" w="12700">
            <a:solidFill>
              <a:srgbClr val="E08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777240" y="4306824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00:45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1920240" y="4306824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Actividad: analicemos datos reales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10241280" y="4306824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35 min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502920" y="4928616"/>
            <a:ext cx="11155680" cy="585216"/>
          </a:xfrm>
          <a:prstGeom prst="roundRect">
            <a:avLst>
              <a:gd fmla="val 10938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777240" y="5001768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01:20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920240" y="500176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Herramientas y cómo funciona el curso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10241280" y="5001768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25 min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02920" y="5623560"/>
            <a:ext cx="11155680" cy="585216"/>
          </a:xfrm>
          <a:prstGeom prst="roundRect">
            <a:avLst>
              <a:gd fmla="val 10938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777240" y="5696712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01:45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920240" y="569671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Puesta en común y cierre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10241280" y="5696712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15 min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banda_superior.png" id="156" name="Google Shape;15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6"/>
          <p:cNvSpPr/>
          <p:nvPr/>
        </p:nvSpPr>
        <p:spPr>
          <a:xfrm>
            <a:off x="502920" y="115214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FUNDAMENTOS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502920" y="1426464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Entonces, ¿qué es la Ciencia de Datos?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Bootcamp de Ciencia de Datos · Clase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502920" y="2103120"/>
            <a:ext cx="11155680" cy="914400"/>
          </a:xfrm>
          <a:prstGeom prst="roundRect">
            <a:avLst>
              <a:gd fmla="val 9000" name="adj"/>
            </a:avLst>
          </a:prstGeom>
          <a:solidFill>
            <a:srgbClr val="013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868680" y="2286000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Una disciplina multidisciplinaria que combina estadística, programación, matemáticas y conocimiento del negocio, para extraer conocimiento significativo de datos estructurados y no estructurados.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502920" y="3291840"/>
            <a:ext cx="2679192" cy="2606040"/>
          </a:xfrm>
          <a:prstGeom prst="roundRect">
            <a:avLst>
              <a:gd fmla="val 3509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3" name="Google Shape;16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5528" y="36118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6"/>
          <p:cNvSpPr/>
          <p:nvPr/>
        </p:nvSpPr>
        <p:spPr>
          <a:xfrm>
            <a:off x="795528" y="42976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Toma de decisiones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795528" y="4709160"/>
            <a:ext cx="2148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Basadas en evidencia, no en intuición.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3364992" y="3291840"/>
            <a:ext cx="2679192" cy="2606040"/>
          </a:xfrm>
          <a:prstGeom prst="roundRect">
            <a:avLst>
              <a:gd fmla="val 3509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7" name="Google Shape;16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57600" y="36118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/>
          <p:nvPr/>
        </p:nvSpPr>
        <p:spPr>
          <a:xfrm>
            <a:off x="3657600" y="42976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Optimización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3657600" y="4709160"/>
            <a:ext cx="2148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Reducción de costos y aumento de eficiencia.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6227064" y="3291840"/>
            <a:ext cx="2679192" cy="2606040"/>
          </a:xfrm>
          <a:prstGeom prst="roundRect">
            <a:avLst>
              <a:gd fmla="val 3509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1" name="Google Shape;17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19672" y="36118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6"/>
          <p:cNvSpPr/>
          <p:nvPr/>
        </p:nvSpPr>
        <p:spPr>
          <a:xfrm>
            <a:off x="6519672" y="42976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Predicción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6519672" y="4709160"/>
            <a:ext cx="2148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Anticipar tendencias del mercado antes de que ocurran.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9089136" y="3291840"/>
            <a:ext cx="2679192" cy="2606040"/>
          </a:xfrm>
          <a:prstGeom prst="roundRect">
            <a:avLst>
              <a:gd fmla="val 3509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5" name="Google Shape;175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81744" y="36118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6"/>
          <p:cNvSpPr/>
          <p:nvPr/>
        </p:nvSpPr>
        <p:spPr>
          <a:xfrm>
            <a:off x="9381744" y="42976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En cualquier industria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9381744" y="4709160"/>
            <a:ext cx="2148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Salud, retail, finanzas, educación, transporte: el mismo enfoque aplica en todas partes.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502920" y="61722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A00"/>
              </a:buClr>
              <a:buSzPts val="1350"/>
              <a:buFont typeface="Arial"/>
              <a:buNone/>
            </a:pPr>
            <a:r>
              <a:rPr b="0" i="1" lang="en-US" sz="1350" u="none" cap="none" strike="noStrike">
                <a:solidFill>
                  <a:srgbClr val="E08A00"/>
                </a:solidFill>
                <a:latin typeface="Arial"/>
                <a:ea typeface="Arial"/>
                <a:cs typeface="Arial"/>
                <a:sym typeface="Arial"/>
              </a:rPr>
              <a:t>Chequeo rápido: antes de seguir, ¿en cuál de estas cuatro creen que su propia profesión se beneficiaría más?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banda_superior.png" id="184" name="Google Shape;18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7"/>
          <p:cNvSpPr/>
          <p:nvPr/>
        </p:nvSpPr>
        <p:spPr>
          <a:xfrm>
            <a:off x="502920" y="115214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CIENCIA DE DATOS EN ACCIÓN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502920" y="1426464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Tres ejemplos, tres industrias distintas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Bootcamp de Ciencia de Datos · Clase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502920" y="2103120"/>
            <a:ext cx="3575304" cy="4023360"/>
          </a:xfrm>
          <a:prstGeom prst="roundRect">
            <a:avLst>
              <a:gd fmla="val 2558" name="adj"/>
            </a:avLst>
          </a:prstGeom>
          <a:solidFill>
            <a:srgbClr val="FFFFFF"/>
          </a:solidFill>
          <a:ln cap="flat" cmpd="sng" w="15875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9C6CE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795528" y="2377440"/>
            <a:ext cx="777240" cy="777240"/>
          </a:xfrm>
          <a:prstGeom prst="roundRect">
            <a:avLst>
              <a:gd fmla="val 14118" name="adj"/>
            </a:avLst>
          </a:prstGeom>
          <a:solidFill>
            <a:srgbClr val="008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0" name="Google Shape;19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0120" y="2542032"/>
            <a:ext cx="448056" cy="44805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7"/>
          <p:cNvSpPr/>
          <p:nvPr/>
        </p:nvSpPr>
        <p:spPr>
          <a:xfrm>
            <a:off x="1737360" y="242316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Salud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1737360" y="280720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Diagnóstico asistido.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795528" y="3429000"/>
            <a:ext cx="30175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2700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Predicción de enfermedades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Optimización de camas y personal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Detección temprana de riesgos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795528" y="5230368"/>
            <a:ext cx="2990088" cy="731520"/>
          </a:xfrm>
          <a:prstGeom prst="roundRect">
            <a:avLst>
              <a:gd fmla="val 10000" name="adj"/>
            </a:avLst>
          </a:prstGeom>
          <a:solidFill>
            <a:srgbClr val="E8F4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960120" y="5321808"/>
            <a:ext cx="267004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Historiales clínicos + 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4306824" y="2103120"/>
            <a:ext cx="3575304" cy="4023360"/>
          </a:xfrm>
          <a:prstGeom prst="roundRect">
            <a:avLst>
              <a:gd fmla="val 2558" name="adj"/>
            </a:avLst>
          </a:prstGeom>
          <a:solidFill>
            <a:srgbClr val="FFFFFF"/>
          </a:solidFill>
          <a:ln cap="flat" cmpd="sng" w="15875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9C6CE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4599432" y="2377440"/>
            <a:ext cx="777240" cy="777240"/>
          </a:xfrm>
          <a:prstGeom prst="roundRect">
            <a:avLst>
              <a:gd fmla="val 14118" name="adj"/>
            </a:avLst>
          </a:prstGeom>
          <a:solidFill>
            <a:srgbClr val="013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8" name="Google Shape;19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4024" y="2542032"/>
            <a:ext cx="448056" cy="44805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7"/>
          <p:cNvSpPr/>
          <p:nvPr/>
        </p:nvSpPr>
        <p:spPr>
          <a:xfrm>
            <a:off x="5541264" y="242316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E-commerce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5541264" y="280720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Recomendación de productos.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4599432" y="3429000"/>
            <a:ext cx="30175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2700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Motores de recomendación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Detección de fraude en tiempo real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Optimización de precios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4599432" y="5230368"/>
            <a:ext cx="2990088" cy="731520"/>
          </a:xfrm>
          <a:prstGeom prst="roundRect">
            <a:avLst>
              <a:gd fmla="val 10000" name="adj"/>
            </a:avLst>
          </a:prstGeom>
          <a:solidFill>
            <a:srgbClr val="E8F4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4764024" y="5321808"/>
            <a:ext cx="267004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El motor de Netflix, Amazon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8110728" y="2103120"/>
            <a:ext cx="3575304" cy="4023360"/>
          </a:xfrm>
          <a:prstGeom prst="roundRect">
            <a:avLst>
              <a:gd fmla="val 2558" name="adj"/>
            </a:avLst>
          </a:prstGeom>
          <a:solidFill>
            <a:srgbClr val="FFFFFF"/>
          </a:solidFill>
          <a:ln cap="flat" cmpd="sng" w="15875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9C6CE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8403336" y="2377440"/>
            <a:ext cx="777240" cy="777240"/>
          </a:xfrm>
          <a:prstGeom prst="roundRect">
            <a:avLst>
              <a:gd fmla="val 14118" name="adj"/>
            </a:avLst>
          </a:prstGeom>
          <a:solidFill>
            <a:srgbClr val="E08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6" name="Google Shape;20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67928" y="2542032"/>
            <a:ext cx="448056" cy="448056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7"/>
          <p:cNvSpPr/>
          <p:nvPr/>
        </p:nvSpPr>
        <p:spPr>
          <a:xfrm>
            <a:off x="9345168" y="242316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Finanzas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9345168" y="280720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Evaluación de riesgo.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8403336" y="3429000"/>
            <a:ext cx="30175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2700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Aprobación de créditos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Detección de fraude bancario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Predicción de mercados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8403336" y="5230368"/>
            <a:ext cx="2990088" cy="731520"/>
          </a:xfrm>
          <a:prstGeom prst="roundRect">
            <a:avLst>
              <a:gd fmla="val 10000" name="adj"/>
            </a:avLst>
          </a:prstGeom>
          <a:solidFill>
            <a:srgbClr val="E8F4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8567928" y="5321808"/>
            <a:ext cx="267004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A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08A00"/>
                </a:solidFill>
                <a:latin typeface="Arial"/>
                <a:ea typeface="Arial"/>
                <a:cs typeface="Arial"/>
                <a:sym typeface="Arial"/>
              </a:rPr>
              <a:t>Modelos de riesgo crediticio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350"/>
              <a:buFont typeface="Arial"/>
              <a:buNone/>
            </a:pPr>
            <a:r>
              <a:rPr b="0" i="1" lang="en-US" sz="135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La pregunta que se repite: ¿qué patrón hay en los datos que ya tenemos, y qué decisión nos permite tomar?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banda_superior.png" id="218" name="Google Shape;21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9"/>
          <p:cNvSpPr/>
          <p:nvPr/>
        </p:nvSpPr>
        <p:spPr>
          <a:xfrm>
            <a:off x="502920" y="115214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HERRAMIENTAS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502920" y="1426464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El ecosistema de Python para datos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Bootcamp de Ciencia de Datos · Clase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" name="Google Shape;222;p9"/>
          <p:cNvCxnSpPr/>
          <p:nvPr/>
        </p:nvCxnSpPr>
        <p:spPr>
          <a:xfrm>
            <a:off x="1828800" y="2743200"/>
            <a:ext cx="4265676" cy="1508760"/>
          </a:xfrm>
          <a:prstGeom prst="straightConnector1">
            <a:avLst/>
          </a:prstGeom>
          <a:noFill/>
          <a:ln cap="flat" cmpd="sng" w="19050">
            <a:solidFill>
              <a:srgbClr val="D7E3EA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23" name="Google Shape;223;p9"/>
          <p:cNvCxnSpPr/>
          <p:nvPr/>
        </p:nvCxnSpPr>
        <p:spPr>
          <a:xfrm flipH="1">
            <a:off x="6094476" y="2743200"/>
            <a:ext cx="4238244" cy="1508760"/>
          </a:xfrm>
          <a:prstGeom prst="straightConnector1">
            <a:avLst/>
          </a:prstGeom>
          <a:noFill/>
          <a:ln cap="flat" cmpd="sng" w="19050">
            <a:solidFill>
              <a:srgbClr val="D7E3EA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24" name="Google Shape;224;p9"/>
          <p:cNvCxnSpPr/>
          <p:nvPr/>
        </p:nvCxnSpPr>
        <p:spPr>
          <a:xfrm flipH="1">
            <a:off x="1828800" y="4251960"/>
            <a:ext cx="4265676" cy="1463040"/>
          </a:xfrm>
          <a:prstGeom prst="straightConnector1">
            <a:avLst/>
          </a:prstGeom>
          <a:noFill/>
          <a:ln cap="flat" cmpd="sng" w="19050">
            <a:solidFill>
              <a:srgbClr val="D7E3EA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25" name="Google Shape;225;p9"/>
          <p:cNvCxnSpPr/>
          <p:nvPr/>
        </p:nvCxnSpPr>
        <p:spPr>
          <a:xfrm>
            <a:off x="6094476" y="4251960"/>
            <a:ext cx="4238244" cy="1463040"/>
          </a:xfrm>
          <a:prstGeom prst="straightConnector1">
            <a:avLst/>
          </a:prstGeom>
          <a:noFill/>
          <a:ln cap="flat" cmpd="sng" w="19050">
            <a:solidFill>
              <a:srgbClr val="D7E3E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26" name="Google Shape;226;p9"/>
          <p:cNvSpPr/>
          <p:nvPr/>
        </p:nvSpPr>
        <p:spPr>
          <a:xfrm>
            <a:off x="4722876" y="2880360"/>
            <a:ext cx="2743200" cy="2743200"/>
          </a:xfrm>
          <a:prstGeom prst="ellipse">
            <a:avLst/>
          </a:prstGeom>
          <a:solidFill>
            <a:srgbClr val="013A52"/>
          </a:solidFill>
          <a:ln>
            <a:noFill/>
          </a:ln>
          <a:effectLst>
            <a:outerShdw blurRad="101600" rotWithShape="0" algn="bl" dir="5400000" dist="38100">
              <a:srgbClr val="9FB3B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7" name="Google Shape;22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2724" y="3383280"/>
            <a:ext cx="603504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9"/>
          <p:cNvSpPr/>
          <p:nvPr/>
        </p:nvSpPr>
        <p:spPr>
          <a:xfrm>
            <a:off x="4814316" y="4087368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4860036" y="448056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E0E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FE0EC"/>
                </a:solidFill>
                <a:latin typeface="Arial"/>
                <a:ea typeface="Arial"/>
                <a:cs typeface="Arial"/>
                <a:sym typeface="Arial"/>
              </a:rPr>
              <a:t>El lenguaje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E0E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FE0EC"/>
                </a:solidFill>
                <a:latin typeface="Arial"/>
                <a:ea typeface="Arial"/>
                <a:cs typeface="Arial"/>
                <a:sym typeface="Arial"/>
              </a:rPr>
              <a:t>que conecta todo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502920" y="2103120"/>
            <a:ext cx="3291840" cy="1280160"/>
          </a:xfrm>
          <a:prstGeom prst="roundRect">
            <a:avLst>
              <a:gd fmla="val 7143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1" name="Google Shape;23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" y="230428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9"/>
          <p:cNvSpPr/>
          <p:nvPr/>
        </p:nvSpPr>
        <p:spPr>
          <a:xfrm>
            <a:off x="1234440" y="2304288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Pandas y NumPy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731520" y="2724912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Manipulación numérica y de datos eficiente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8366760" y="2103120"/>
            <a:ext cx="3291840" cy="1280160"/>
          </a:xfrm>
          <a:prstGeom prst="roundRect">
            <a:avLst>
              <a:gd fmla="val 7143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5" name="Google Shape;23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95360" y="230428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9"/>
          <p:cNvSpPr/>
          <p:nvPr/>
        </p:nvSpPr>
        <p:spPr>
          <a:xfrm>
            <a:off x="9098280" y="2304288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Matplotlib y Seaborn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8595360" y="2724912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Visualización de datos para contar historias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502920" y="5074920"/>
            <a:ext cx="3291840" cy="1280160"/>
          </a:xfrm>
          <a:prstGeom prst="roundRect">
            <a:avLst>
              <a:gd fmla="val 7143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9" name="Google Shape;239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1520" y="527608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9"/>
          <p:cNvSpPr/>
          <p:nvPr/>
        </p:nvSpPr>
        <p:spPr>
          <a:xfrm>
            <a:off x="1234440" y="5276088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Scikit-Learn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731520" y="5696712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El estándar para Machine Learning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8366760" y="5074920"/>
            <a:ext cx="3291840" cy="1280160"/>
          </a:xfrm>
          <a:prstGeom prst="roundRect">
            <a:avLst>
              <a:gd fmla="val 7143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3" name="Google Shape;243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95360" y="527608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9"/>
          <p:cNvSpPr/>
          <p:nvPr/>
        </p:nvSpPr>
        <p:spPr>
          <a:xfrm>
            <a:off x="9098280" y="5276088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Jupyter / Colab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8595360" y="5696712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Donde van a escribir y correr todo el código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banda_superior.png" id="251" name="Google Shape;25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0"/>
          <p:cNvSpPr/>
          <p:nvPr/>
        </p:nvSpPr>
        <p:spPr>
          <a:xfrm>
            <a:off x="502920" y="115214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METODOLOGÍA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502920" y="1426464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El flujo de trabajo de un proyecto de datos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Bootcamp de Ciencia de Datos · Clase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502920" y="2286000"/>
            <a:ext cx="2057400" cy="3017520"/>
          </a:xfrm>
          <a:prstGeom prst="roundRect">
            <a:avLst>
              <a:gd fmla="val 4444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6" name="Google Shape;25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25603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0"/>
          <p:cNvSpPr/>
          <p:nvPr/>
        </p:nvSpPr>
        <p:spPr>
          <a:xfrm>
            <a:off x="731520" y="3200400"/>
            <a:ext cx="16276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Problema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731520" y="3566160"/>
            <a:ext cx="162763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Definir objetivos de negocio: ¿qué pregunta queremos responder?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731520" y="4709160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Punto de partida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0" name="Google Shape;26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60320" y="36393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0"/>
          <p:cNvSpPr/>
          <p:nvPr/>
        </p:nvSpPr>
        <p:spPr>
          <a:xfrm>
            <a:off x="2788920" y="2286000"/>
            <a:ext cx="2057400" cy="3017520"/>
          </a:xfrm>
          <a:prstGeom prst="roundRect">
            <a:avLst>
              <a:gd fmla="val 4444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62" name="Google Shape;262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17520" y="25603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0"/>
          <p:cNvSpPr/>
          <p:nvPr/>
        </p:nvSpPr>
        <p:spPr>
          <a:xfrm>
            <a:off x="3017520" y="3200400"/>
            <a:ext cx="16276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Recolección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3017520" y="3566160"/>
            <a:ext cx="162763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Obtener los datos relevantes: archivos, bases de datos, APIs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3017520" y="4709160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Materia prima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6" name="Google Shape;26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46320" y="36393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0"/>
          <p:cNvSpPr/>
          <p:nvPr/>
        </p:nvSpPr>
        <p:spPr>
          <a:xfrm>
            <a:off x="5074920" y="2286000"/>
            <a:ext cx="2057400" cy="3017520"/>
          </a:xfrm>
          <a:prstGeom prst="roundRect">
            <a:avLst>
              <a:gd fmla="val 4444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68" name="Google Shape;268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03520" y="25603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0"/>
          <p:cNvSpPr/>
          <p:nvPr/>
        </p:nvSpPr>
        <p:spPr>
          <a:xfrm>
            <a:off x="5303520" y="3200400"/>
            <a:ext cx="16276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Limpieza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5303520" y="3566160"/>
            <a:ext cx="162763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Explorar y preparar los datos: errores, duplicados, faltantes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5303520" y="4709160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El paso que más tiempo toma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2" name="Google Shape;27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32320" y="36393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0"/>
          <p:cNvSpPr/>
          <p:nvPr/>
        </p:nvSpPr>
        <p:spPr>
          <a:xfrm>
            <a:off x="7360920" y="2286000"/>
            <a:ext cx="2057400" cy="3017520"/>
          </a:xfrm>
          <a:prstGeom prst="roundRect">
            <a:avLst>
              <a:gd fmla="val 4444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74" name="Google Shape;274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89520" y="25603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0"/>
          <p:cNvSpPr/>
          <p:nvPr/>
        </p:nvSpPr>
        <p:spPr>
          <a:xfrm>
            <a:off x="7589520" y="3200400"/>
            <a:ext cx="16276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Modelado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7589520" y="3566160"/>
            <a:ext cx="162763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Entrenar y validar modelos, o construir visualizaciones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7589520" y="4709160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Donde aparecen los patrones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8" name="Google Shape;27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18320" y="36393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0"/>
          <p:cNvSpPr/>
          <p:nvPr/>
        </p:nvSpPr>
        <p:spPr>
          <a:xfrm>
            <a:off x="9646920" y="2286000"/>
            <a:ext cx="2057400" cy="3017520"/>
          </a:xfrm>
          <a:prstGeom prst="roundRect">
            <a:avLst>
              <a:gd fmla="val 4444" name="adj"/>
            </a:avLst>
          </a:prstGeom>
          <a:solidFill>
            <a:srgbClr val="013A52"/>
          </a:solidFill>
          <a:ln cap="flat" cmpd="sng" w="12700">
            <a:solidFill>
              <a:srgbClr val="01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80" name="Google Shape;280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875520" y="25603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0"/>
          <p:cNvSpPr/>
          <p:nvPr/>
        </p:nvSpPr>
        <p:spPr>
          <a:xfrm>
            <a:off x="9875520" y="3200400"/>
            <a:ext cx="16276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Comunicar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9875520" y="3566160"/>
            <a:ext cx="162763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F1F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6F1F7"/>
                </a:solidFill>
                <a:latin typeface="Arial"/>
                <a:ea typeface="Arial"/>
                <a:cs typeface="Arial"/>
                <a:sym typeface="Arial"/>
              </a:rPr>
              <a:t>Presentar resultados de forma clara, con una decisión concreta detrás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9875520" y="4709160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0DE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A0DE"/>
                </a:solidFill>
                <a:latin typeface="Arial"/>
                <a:ea typeface="Arial"/>
                <a:cs typeface="Arial"/>
                <a:sym typeface="Arial"/>
              </a:rPr>
              <a:t>El paso que se olvida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502920" y="5623560"/>
            <a:ext cx="11155680" cy="777240"/>
          </a:xfrm>
          <a:prstGeom prst="roundRect">
            <a:avLst>
              <a:gd fmla="val 9412" name="adj"/>
            </a:avLst>
          </a:prstGeom>
          <a:solidFill>
            <a:srgbClr val="E8F4F9"/>
          </a:solidFill>
          <a:ln cap="flat" cmpd="sng" w="12700">
            <a:solidFill>
              <a:srgbClr val="0089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777240" y="5779008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La idea clave: </a:t>
            </a:r>
            <a:r>
              <a:rPr b="0" i="0" lang="en-US" sz="13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este ciclo se repite en cada uno de los 32 proyectos que van a tocar en este bootcamp, sin importar si el resultado final es una gráfica, un dashboard o un modelo de Machine Learning.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banda_superior.png" id="291" name="Google Shape;29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1"/>
          <p:cNvSpPr/>
          <p:nvPr/>
        </p:nvSpPr>
        <p:spPr>
          <a:xfrm>
            <a:off x="502920" y="115214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METODOLOGÍA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502920" y="1426464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Entonces, ¿cómo se va a desarrollar el curso?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Bootcamp de Ciencia de Datos · Clase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502920" y="2103120"/>
            <a:ext cx="5120640" cy="3977640"/>
          </a:xfrm>
          <a:prstGeom prst="roundRect">
            <a:avLst>
              <a:gd fmla="val 2299" name="adj"/>
            </a:avLst>
          </a:prstGeom>
          <a:solidFill>
            <a:srgbClr val="013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96" name="Google Shape;29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680" y="24231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1"/>
          <p:cNvSpPr/>
          <p:nvPr/>
        </p:nvSpPr>
        <p:spPr>
          <a:xfrm>
            <a:off x="868680" y="3108960"/>
            <a:ext cx="4389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 módulos, de lo simple a lo complejo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868680" y="3886200"/>
            <a:ext cx="4389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F1F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6F1F7"/>
                </a:solidFill>
                <a:latin typeface="Arial"/>
                <a:ea typeface="Arial"/>
                <a:cs typeface="Arial"/>
                <a:sym typeface="Arial"/>
              </a:rPr>
              <a:t>Empezamos con fundamentos y Python, seguimos con visualización y extracción de datos, y cerramos con Machine Learning y un proyecto final aplicado a un problema real de su propio entorno laboral.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868680" y="544068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0DE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A0DE"/>
                </a:solidFill>
                <a:latin typeface="Arial"/>
                <a:ea typeface="Arial"/>
                <a:cs typeface="Arial"/>
                <a:sym typeface="Arial"/>
              </a:rPr>
              <a:t>Cada módulo mezcla clases teóricas y talleres prácticos.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6080760" y="2121408"/>
            <a:ext cx="5577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¿Qué esperar de cada clase?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6080760" y="2514600"/>
            <a:ext cx="5577840" cy="2331720"/>
          </a:xfrm>
          <a:prstGeom prst="roundRect">
            <a:avLst>
              <a:gd fmla="val 3529" name="adj"/>
            </a:avLst>
          </a:prstGeom>
          <a:solidFill>
            <a:srgbClr val="F4F9FC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6355080" y="2697480"/>
            <a:ext cx="50292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Courier New"/>
              <a:buNone/>
            </a:pPr>
            <a:r>
              <a:rPr b="0" i="0" lang="en-US" sz="13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Contenido nuevo, ejemplos aplicados a negocio, y siempre algo práctico antes de terminar: no hay clase puramente teórica.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6080760" y="5029200"/>
            <a:ext cx="5577840" cy="1051560"/>
          </a:xfrm>
          <a:prstGeom prst="roundRect">
            <a:avLst>
              <a:gd fmla="val 7826" name="adj"/>
            </a:avLst>
          </a:prstGeom>
          <a:solidFill>
            <a:srgbClr val="FFFFFF"/>
          </a:solidFill>
          <a:ln cap="flat" cmpd="sng" w="15875">
            <a:solidFill>
              <a:srgbClr val="E08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6355080" y="5212080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A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08A00"/>
                </a:solidFill>
                <a:latin typeface="Arial"/>
                <a:ea typeface="Arial"/>
                <a:cs typeface="Arial"/>
                <a:sym typeface="Arial"/>
              </a:rPr>
              <a:t>Dato: </a:t>
            </a:r>
            <a:r>
              <a:rPr b="0" i="0" lang="en-US" sz="12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el bootcamp cierra con evaluaciones intermedias y un proyecto final donde aplican todo lo aprendido a un problema real de su propio trabajo.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"/>
          <p:cNvSpPr/>
          <p:nvPr/>
        </p:nvSpPr>
        <p:spPr>
          <a:xfrm>
            <a:off x="475488" y="5856732"/>
            <a:ext cx="6766560" cy="813816"/>
          </a:xfrm>
          <a:prstGeom prst="roundRect">
            <a:avLst>
              <a:gd fmla="val 7826" name="adj"/>
            </a:avLst>
          </a:prstGeom>
          <a:solidFill>
            <a:srgbClr val="FFFFFF"/>
          </a:solidFill>
          <a:ln cap="flat" cmpd="sng" w="15875">
            <a:solidFill>
              <a:srgbClr val="E08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ssets/banda_superior.png" id="311" name="Google Shape;3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2"/>
          <p:cNvSpPr/>
          <p:nvPr/>
        </p:nvSpPr>
        <p:spPr>
          <a:xfrm>
            <a:off x="502920" y="115214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CIERRE DE ACTIVIDAD · 15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475488" y="1792224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Puesta en común: ¿qué encontraron?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Bootcamp de Ciencia de Datos · Clase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475488" y="2578608"/>
            <a:ext cx="3575304" cy="2743200"/>
          </a:xfrm>
          <a:prstGeom prst="roundRect">
            <a:avLst>
              <a:gd fmla="val 3333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16" name="Google Shape;31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5528" y="289864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2"/>
          <p:cNvSpPr/>
          <p:nvPr/>
        </p:nvSpPr>
        <p:spPr>
          <a:xfrm>
            <a:off x="795528" y="3584448"/>
            <a:ext cx="2971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Cada grupo comparte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795528" y="4023360"/>
            <a:ext cx="2971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Un vocero por grupo cuenta su conclusión más interesante, en un minuto.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4279392" y="2578608"/>
            <a:ext cx="3575304" cy="2743200"/>
          </a:xfrm>
          <a:prstGeom prst="roundRect">
            <a:avLst>
              <a:gd fmla="val 3333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20" name="Google Shape;32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99432" y="289864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2"/>
          <p:cNvSpPr/>
          <p:nvPr/>
        </p:nvSpPr>
        <p:spPr>
          <a:xfrm>
            <a:off x="4599432" y="3584448"/>
            <a:ext cx="2971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Los demás preguntan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4599432" y="4023360"/>
            <a:ext cx="2971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¿Por qué llegaron a esa conclusión? ¿Qué parte de la gráfica los convenció?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8083296" y="2578608"/>
            <a:ext cx="3575304" cy="2743200"/>
          </a:xfrm>
          <a:prstGeom prst="roundRect">
            <a:avLst>
              <a:gd fmla="val 3333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24" name="Google Shape;324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03336" y="289864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2"/>
          <p:cNvSpPr/>
          <p:nvPr/>
        </p:nvSpPr>
        <p:spPr>
          <a:xfrm>
            <a:off x="8403336" y="3584448"/>
            <a:ext cx="2971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Buscamos patrones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8403336" y="4023360"/>
            <a:ext cx="2971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¿Todos los grupos vieron lo mismo en los datos, o hubo lecturas distintas de la misma información?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575944" y="5961888"/>
            <a:ext cx="734275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A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E08A00"/>
                </a:solidFill>
                <a:latin typeface="Arial"/>
                <a:ea typeface="Arial"/>
                <a:cs typeface="Arial"/>
                <a:sym typeface="Arial"/>
              </a:rPr>
              <a:t>¿Como crees que estos conocimientos pueden aportar en tú ambito laboral?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banda_superior.png" id="333" name="Google Shape;33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3"/>
          <p:cNvSpPr/>
          <p:nvPr/>
        </p:nvSpPr>
        <p:spPr>
          <a:xfrm>
            <a:off x="502920" y="115214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RECAPITULEMOS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502920" y="1426464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Las 4 ideas que se llevan hoy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Bootcamp de Ciencia de Datos · Clase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502920" y="2148840"/>
            <a:ext cx="5440680" cy="1737360"/>
          </a:xfrm>
          <a:prstGeom prst="roundRect">
            <a:avLst>
              <a:gd fmla="val 5263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777240" y="2377440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1737360" y="237744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La Ciencia de Datos no es solo tecnología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1737360" y="2953512"/>
            <a:ext cx="4023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Combina estadística, programación y conocimiento del negocio: aplica en cualquier profesión.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6217920" y="2148840"/>
            <a:ext cx="5440680" cy="1737360"/>
          </a:xfrm>
          <a:prstGeom prst="roundRect">
            <a:avLst>
              <a:gd fmla="val 5263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6492240" y="2377440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7452360" y="237744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Los datos responden preguntas, no solo decoran informes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7452360" y="2953512"/>
            <a:ext cx="4023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Cada gráfica de hoy pudo responder una pregunta concreta de negocio.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502920" y="4069080"/>
            <a:ext cx="5440680" cy="1737360"/>
          </a:xfrm>
          <a:prstGeom prst="roundRect">
            <a:avLst>
              <a:gd fmla="val 5263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777240" y="4297680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1737360" y="429768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Todo proyecto sigue el mismo flujo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1737360" y="4873752"/>
            <a:ext cx="4023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Problema, recolección, limpieza, modelado, comunicación: siempre en ese orden.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6217920" y="4069080"/>
            <a:ext cx="5440680" cy="1737360"/>
          </a:xfrm>
          <a:prstGeom prst="roundRect">
            <a:avLst>
              <a:gd fmla="val 5263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6492240" y="4297680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7452360" y="429768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Ya piensan como científicos de datos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7452360" y="4873752"/>
            <a:ext cx="4023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Sin haber escrito una línea de código, ya supieron leer patrones y proponer decisiones.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502920" y="603504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A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E08A00"/>
                </a:solidFill>
                <a:latin typeface="Arial"/>
                <a:ea typeface="Arial"/>
                <a:cs typeface="Arial"/>
                <a:sym typeface="Arial"/>
              </a:rPr>
              <a:t>Pregunta de cierre: si estos datos fueran de su propio trabajo, ¿qué les gustaría poder analizar así?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banda_superior.png" id="359" name="Google Shape;3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8"/>
          <p:cNvSpPr/>
          <p:nvPr/>
        </p:nvSpPr>
        <p:spPr>
          <a:xfrm>
            <a:off x="502920" y="115214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MANOS A LA OBRA · 35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502920" y="1426464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Actividad: analicemos datos reales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8"/>
          <p:cNvSpPr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Bootcamp de Ciencia de Datos · Clase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502920" y="2148840"/>
            <a:ext cx="6675120" cy="804672"/>
          </a:xfrm>
          <a:prstGeom prst="roundRect">
            <a:avLst>
              <a:gd fmla="val 9091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731520" y="2322576"/>
            <a:ext cx="457200" cy="457200"/>
          </a:xfrm>
          <a:prstGeom prst="ellipse">
            <a:avLst/>
          </a:prstGeom>
          <a:solidFill>
            <a:srgbClr val="E08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8"/>
          <p:cNvSpPr/>
          <p:nvPr/>
        </p:nvSpPr>
        <p:spPr>
          <a:xfrm>
            <a:off x="731520" y="2331720"/>
            <a:ext cx="4572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8"/>
          <p:cNvSpPr/>
          <p:nvPr/>
        </p:nvSpPr>
        <p:spPr>
          <a:xfrm>
            <a:off x="1371600" y="2258568"/>
            <a:ext cx="4937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En grupos, abran el archivo de Excel que les compartimos y exploren la pestaña de datos crudos.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8"/>
          <p:cNvSpPr/>
          <p:nvPr/>
        </p:nvSpPr>
        <p:spPr>
          <a:xfrm>
            <a:off x="6355080" y="2404872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8 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8"/>
          <p:cNvSpPr/>
          <p:nvPr/>
        </p:nvSpPr>
        <p:spPr>
          <a:xfrm>
            <a:off x="502920" y="3063240"/>
            <a:ext cx="6675120" cy="804672"/>
          </a:xfrm>
          <a:prstGeom prst="roundRect">
            <a:avLst>
              <a:gd fmla="val 9091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8"/>
          <p:cNvSpPr/>
          <p:nvPr/>
        </p:nvSpPr>
        <p:spPr>
          <a:xfrm>
            <a:off x="731520" y="3236976"/>
            <a:ext cx="457200" cy="457200"/>
          </a:xfrm>
          <a:prstGeom prst="ellipse">
            <a:avLst/>
          </a:prstGeom>
          <a:solidFill>
            <a:srgbClr val="E08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8"/>
          <p:cNvSpPr/>
          <p:nvPr/>
        </p:nvSpPr>
        <p:spPr>
          <a:xfrm>
            <a:off x="731520" y="3246120"/>
            <a:ext cx="4572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8"/>
          <p:cNvSpPr/>
          <p:nvPr/>
        </p:nvSpPr>
        <p:spPr>
          <a:xfrm>
            <a:off x="1371600" y="3172968"/>
            <a:ext cx="4937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Revisen las tablas resumen y las gráficas: tendencia, categorías, ocupación, calificaciones.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8"/>
          <p:cNvSpPr/>
          <p:nvPr/>
        </p:nvSpPr>
        <p:spPr>
          <a:xfrm>
            <a:off x="6355080" y="3319272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10 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8"/>
          <p:cNvSpPr/>
          <p:nvPr/>
        </p:nvSpPr>
        <p:spPr>
          <a:xfrm>
            <a:off x="502920" y="3977640"/>
            <a:ext cx="6675120" cy="804672"/>
          </a:xfrm>
          <a:prstGeom prst="roundRect">
            <a:avLst>
              <a:gd fmla="val 9091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8"/>
          <p:cNvSpPr/>
          <p:nvPr/>
        </p:nvSpPr>
        <p:spPr>
          <a:xfrm>
            <a:off x="731520" y="4151376"/>
            <a:ext cx="457200" cy="457200"/>
          </a:xfrm>
          <a:prstGeom prst="ellipse">
            <a:avLst/>
          </a:prstGeom>
          <a:solidFill>
            <a:srgbClr val="E08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8"/>
          <p:cNvSpPr/>
          <p:nvPr/>
        </p:nvSpPr>
        <p:spPr>
          <a:xfrm>
            <a:off x="731520" y="4160520"/>
            <a:ext cx="4572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8"/>
          <p:cNvSpPr/>
          <p:nvPr/>
        </p:nvSpPr>
        <p:spPr>
          <a:xfrm>
            <a:off x="1371600" y="4087368"/>
            <a:ext cx="4937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Respondan en grupo: ¿qué patrón encuentran? ¿Qué decisión tomarían con esta información?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8"/>
          <p:cNvSpPr/>
          <p:nvPr/>
        </p:nvSpPr>
        <p:spPr>
          <a:xfrm>
            <a:off x="6355080" y="4233672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12 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8"/>
          <p:cNvSpPr/>
          <p:nvPr/>
        </p:nvSpPr>
        <p:spPr>
          <a:xfrm>
            <a:off x="502920" y="4892040"/>
            <a:ext cx="6675120" cy="804672"/>
          </a:xfrm>
          <a:prstGeom prst="roundRect">
            <a:avLst>
              <a:gd fmla="val 9091" name="adj"/>
            </a:avLst>
          </a:prstGeom>
          <a:solidFill>
            <a:srgbClr val="E8F4F9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8"/>
          <p:cNvSpPr/>
          <p:nvPr/>
        </p:nvSpPr>
        <p:spPr>
          <a:xfrm>
            <a:off x="731520" y="5065776"/>
            <a:ext cx="457200" cy="457200"/>
          </a:xfrm>
          <a:prstGeom prst="ellipse">
            <a:avLst/>
          </a:prstGeom>
          <a:solidFill>
            <a:srgbClr val="E08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8"/>
          <p:cNvSpPr/>
          <p:nvPr/>
        </p:nvSpPr>
        <p:spPr>
          <a:xfrm>
            <a:off x="731520" y="5074920"/>
            <a:ext cx="4572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8"/>
          <p:cNvSpPr/>
          <p:nvPr/>
        </p:nvSpPr>
        <p:spPr>
          <a:xfrm>
            <a:off x="1371600" y="5001768"/>
            <a:ext cx="4937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Elijan un vocero para compartir la conclusión más interesante de su grupo.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8"/>
          <p:cNvSpPr/>
          <p:nvPr/>
        </p:nvSpPr>
        <p:spPr>
          <a:xfrm>
            <a:off x="6355080" y="5148072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5 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8"/>
          <p:cNvSpPr/>
          <p:nvPr/>
        </p:nvSpPr>
        <p:spPr>
          <a:xfrm>
            <a:off x="7498080" y="2148840"/>
            <a:ext cx="4160520" cy="3611880"/>
          </a:xfrm>
          <a:prstGeom prst="roundRect">
            <a:avLst>
              <a:gd fmla="val 2532" name="adj"/>
            </a:avLst>
          </a:prstGeom>
          <a:solidFill>
            <a:srgbClr val="013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84" name="Google Shape;38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8120" y="2468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8"/>
          <p:cNvSpPr/>
          <p:nvPr/>
        </p:nvSpPr>
        <p:spPr>
          <a:xfrm>
            <a:off x="8412480" y="251460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Entregable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8"/>
          <p:cNvSpPr/>
          <p:nvPr/>
        </p:nvSpPr>
        <p:spPr>
          <a:xfrm>
            <a:off x="7818120" y="3063240"/>
            <a:ext cx="35661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F1F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6F1F7"/>
                </a:solidFill>
                <a:latin typeface="Arial"/>
                <a:ea typeface="Arial"/>
                <a:cs typeface="Arial"/>
                <a:sym typeface="Arial"/>
              </a:rPr>
              <a:t>Como grupo, tengan lista: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6F1F7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E6F1F7"/>
                </a:solidFill>
                <a:latin typeface="Arial"/>
                <a:ea typeface="Arial"/>
                <a:cs typeface="Arial"/>
                <a:sym typeface="Arial"/>
              </a:rPr>
              <a:t>1 conclusión por cada ejemplo (retail, salud, educación)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6F1F7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E6F1F7"/>
                </a:solidFill>
                <a:latin typeface="Arial"/>
                <a:ea typeface="Arial"/>
                <a:cs typeface="Arial"/>
                <a:sym typeface="Arial"/>
              </a:rPr>
              <a:t>1 decisión que tomarían con esos datos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6F1F7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E6F1F7"/>
                </a:solidFill>
                <a:latin typeface="Arial"/>
                <a:ea typeface="Arial"/>
                <a:cs typeface="Arial"/>
                <a:sym typeface="Arial"/>
              </a:rPr>
              <a:t>1 pregunta que le harían a estos datos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8"/>
          <p:cNvSpPr/>
          <p:nvPr/>
        </p:nvSpPr>
        <p:spPr>
          <a:xfrm>
            <a:off x="7818120" y="4983480"/>
            <a:ext cx="3566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0D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A0DE"/>
                </a:solidFill>
                <a:latin typeface="Arial"/>
                <a:ea typeface="Arial"/>
                <a:cs typeface="Arial"/>
                <a:sym typeface="Arial"/>
              </a:rPr>
              <a:t>No necesitan saber programar para esta actividad: es puro razonamiento con datos.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8"/>
          <p:cNvSpPr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50"/>
              <a:buFont typeface="Arial"/>
              <a:buNone/>
            </a:pPr>
            <a:r>
              <a:rPr b="0" i="1" lang="en-US" sz="1250" u="none" cap="none" strike="noStrik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Si terminan antes, discutan: ¿en qué se parecen los tres ejemplos, aunque sean de industrias distintas?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bg_portada.png" id="394" name="Google Shape;3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logo_blanco.png" id="395" name="Google Shape;3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" y="384048"/>
            <a:ext cx="1234440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4"/>
          <p:cNvSpPr/>
          <p:nvPr/>
        </p:nvSpPr>
        <p:spPr>
          <a:xfrm>
            <a:off x="502920" y="24688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0D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A0DE"/>
                </a:solidFill>
                <a:latin typeface="Arial"/>
                <a:ea typeface="Arial"/>
                <a:cs typeface="Arial"/>
                <a:sym typeface="Arial"/>
              </a:rPr>
              <a:t>PRÓXIMA CLASE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502920" y="2880360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Clase 2 — Variables, tipos y operadores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502920" y="379476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6DE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9D6DE"/>
                </a:solidFill>
                <a:latin typeface="Arial"/>
                <a:ea typeface="Arial"/>
                <a:cs typeface="Arial"/>
                <a:sym typeface="Arial"/>
              </a:rPr>
              <a:t>Empezamos a escribir código de verdad: instalamos Python, y aprendemos a guardar y operar datos con variables. Trae tus conclusiones de hoy: las vamos a retomar.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502920" y="512064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¡Gracias!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