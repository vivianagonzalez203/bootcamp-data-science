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embeddedFontLst>
    <p:embeddedFont>
      <p:font typeface="Fira Code" panose="020B0809050000020004" pitchFamily="49" charset="0"/>
      <p:regular r:id="rId20"/>
      <p:bold r:id="rId21"/>
    </p:embeddedFont>
    <p:embeddedFont>
      <p:font typeface="Inter"/>
      <p:italic r:id="rId22"/>
    </p:embeddedFont>
    <p:embeddedFont>
      <p:font typeface="Plus Jakarta Sans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7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06242" y="2210692"/>
            <a:ext cx="2779514" cy="285750"/>
          </a:xfrm>
          <a:prstGeom prst="roundRect">
            <a:avLst>
              <a:gd name="adj" fmla="val 50000"/>
            </a:avLst>
          </a:prstGeom>
          <a:solidFill>
            <a:srgbClr val="1E345A"/>
          </a:solidFill>
          <a:ln w="9525">
            <a:solidFill>
              <a:srgbClr val="22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47875" y="4132808"/>
            <a:ext cx="8096250" cy="51435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713" y="4294733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64" y="4294733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741" y="4294733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2153" y="2278546"/>
            <a:ext cx="3207692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60A5FA"/>
                </a:solidFill>
                <a:latin typeface="Inter"/>
              </a:rPr>
              <a:t>DATA SCIENCE BOOTCAMP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422" y="2648842"/>
            <a:ext cx="10489006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Plus Jakarta Sans"/>
              </a:rPr>
              <a:t>BASES DE DATOS DESDE CERO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8703" y="3408908"/>
            <a:ext cx="627459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Cómo se organizan los datos en el mundo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2409" y="4309020"/>
            <a:ext cx="1535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DATOS DISPERSOS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9276" y="4309020"/>
            <a:ext cx="1171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2528" y="430902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TABLAS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4304" y="4309020"/>
            <a:ext cx="1323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Inter"/>
              </a:rPr>
              <a:t>BASE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05062"/>
            <a:ext cx="11125200" cy="2724150"/>
          </a:xfrm>
          <a:prstGeom prst="roundRect">
            <a:avLst>
              <a:gd name="adj" fmla="val 5594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4005262"/>
            <a:ext cx="1631900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60600" y="4005262"/>
            <a:ext cx="1631900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06800" y="4005262"/>
            <a:ext cx="1631900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53001" y="4005262"/>
            <a:ext cx="1632049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99350" y="4005262"/>
            <a:ext cx="1631900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45550" y="4005262"/>
            <a:ext cx="1631900" cy="742950"/>
          </a:xfrm>
          <a:prstGeom prst="roundRect">
            <a:avLst>
              <a:gd name="adj" fmla="val 12820"/>
            </a:avLst>
          </a:prstGeom>
          <a:solidFill>
            <a:srgbClr val="2A3243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4148137"/>
            <a:ext cx="13461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475" y="4148137"/>
            <a:ext cx="13461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675" y="4148137"/>
            <a:ext cx="13461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876" y="4148137"/>
            <a:ext cx="1346299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225" y="4148137"/>
            <a:ext cx="13461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425" y="4148137"/>
            <a:ext cx="13461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Punto de partida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90500" y="2786062"/>
            <a:ext cx="12573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FFFFFF"/>
                </a:solidFill>
                <a:latin typeface="Plus Jakarta Sans"/>
              </a:rPr>
              <a:t>¿Dónde viven los datos de una empresa?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90500" y="3462337"/>
            <a:ext cx="12573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Cada interacción digital que realizamos genera información que debe ser almacenada instantáneamente.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2138" y="4443412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Netflix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3101" y="4443412"/>
            <a:ext cx="66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Banco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889" y="4443412"/>
            <a:ext cx="1171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Supermercado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263" y="4443412"/>
            <a:ext cx="7715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Hospital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5163" y="4443412"/>
            <a:ext cx="1000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Universidad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8976" y="4443412"/>
            <a:ext cx="1104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Tienda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52750"/>
            <a:ext cx="3555950" cy="228600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952750"/>
            <a:ext cx="3555950" cy="228600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952750"/>
            <a:ext cx="3555950" cy="228600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2099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125" y="32099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32099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" y="3333750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237" y="3333750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3333750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El límite de las hojas de cálculo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428625" y="2295525"/>
            <a:ext cx="130492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563EB"/>
                </a:solidFill>
                <a:latin typeface="Plus Jakarta Sans"/>
              </a:rPr>
              <a:t>"Cuando los datos crecen, Excel empieza a quedarse corto."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819525"/>
            <a:ext cx="23123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Volumen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4181475"/>
            <a:ext cx="3136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Las hojas de cálculo colapsan con millones de registros. Las bases de datos manejan Terabytes con facilidad.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125" y="3819525"/>
            <a:ext cx="153984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Duplicación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125" y="4181475"/>
            <a:ext cx="3136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Repetir nombres o direcciones manualmente crea inconsistencias y desperdicia almacenamiento.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3819525"/>
            <a:ext cx="246944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Acceso Simultáneo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4181475"/>
            <a:ext cx="3136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Múltiples usuarios escribiendo al mismo tiempo en Excel genera conflictos y archivos corruptos.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667000"/>
            <a:ext cx="5429250" cy="2200275"/>
          </a:xfrm>
          <a:prstGeom prst="roundRect">
            <a:avLst>
              <a:gd name="adj" fmla="val 606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2667000"/>
            <a:ext cx="5429250" cy="2200275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2943225"/>
            <a:ext cx="4876800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14161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690788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239964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¿Qué es una Base de Datos?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000375"/>
            <a:ext cx="47053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DEFINICIÓN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381375"/>
            <a:ext cx="5220652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2250" b="1" i="0" u="none">
                <a:solidFill>
                  <a:srgbClr val="1E40AF"/>
                </a:solidFill>
                <a:latin typeface="Plus Jakarta Sans"/>
              </a:rPr>
              <a:t>Una estructura organizada para almacenar, gestionar y consultar datos de forma eficiente.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3017787"/>
            <a:ext cx="3267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Almacenar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3566963"/>
            <a:ext cx="3257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Gestionar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4116139"/>
            <a:ext cx="4076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Consultar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217812"/>
            <a:ext cx="3964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Guarda información de forma persistente y segura.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766988"/>
            <a:ext cx="395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Permite actualizar y modificar registros sin errores.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4316164"/>
            <a:ext cx="4976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Extrae respuestas exactas en milisegundos mediante consultas.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509837"/>
            <a:ext cx="5429250" cy="2514600"/>
          </a:xfrm>
          <a:prstGeom prst="roundRect">
            <a:avLst>
              <a:gd name="adj" fmla="val 53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2509837"/>
            <a:ext cx="5429250" cy="2514600"/>
          </a:xfrm>
          <a:prstGeom prst="roundRect">
            <a:avLst>
              <a:gd name="adj" fmla="val 530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786062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278606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67075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643312"/>
            <a:ext cx="12382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019550"/>
            <a:ext cx="1238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395787"/>
            <a:ext cx="12382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267075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64331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401955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4395787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Base de Datos vs.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2805112"/>
            <a:ext cx="20053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Hoja de Cálculo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3243262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Ideal para análisis rápido y prototipos.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3619500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Manipulación manual susceptible a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3995737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Archivos individuales aislados.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371975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Limitado a 1 millón de filas por hoja.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2805112"/>
            <a:ext cx="181624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Base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0375" y="3243262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Diseñada para sistemas en producción.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0375" y="3619500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Tablas conectadas mediante relaciones formales.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0375" y="3995737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Múltiples usuarios en tiempo real con permisos.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375" y="4371975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Escalabilidad ilimitada basada en servidor.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86087"/>
            <a:ext cx="3340149" cy="1562100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25999" y="2986087"/>
            <a:ext cx="3340149" cy="1562100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18599" y="2986087"/>
            <a:ext cx="3340149" cy="1562100"/>
          </a:xfrm>
          <a:prstGeom prst="roundRect">
            <a:avLst>
              <a:gd name="adj" fmla="val 731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49" y="3633787"/>
            <a:ext cx="1714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649" y="3633787"/>
            <a:ext cx="1714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187" y="3281362"/>
            <a:ext cx="352425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975" y="3281362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8574" y="3281362"/>
            <a:ext cx="40005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Estructura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666" y="3776662"/>
            <a:ext cx="1845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BASE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103" y="4100512"/>
            <a:ext cx="1702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El contenedor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1650" y="3776662"/>
            <a:ext cx="1028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TABLAS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1593" y="4100512"/>
            <a:ext cx="1928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Entidades independientes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3927" y="3776662"/>
            <a:ext cx="2369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FILAS + COLUMNAS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646" y="4100512"/>
            <a:ext cx="153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Registros y Atributos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845593"/>
            <a:ext cx="7213550" cy="1843087"/>
          </a:xfrm>
          <a:prstGeom prst="roundRect">
            <a:avLst>
              <a:gd name="adj" fmla="val 6201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2705100"/>
            <a:ext cx="36067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51750" y="2705100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3848100"/>
            <a:ext cx="3606700" cy="981075"/>
          </a:xfrm>
          <a:prstGeom prst="roundRect">
            <a:avLst>
              <a:gd name="adj" fmla="val 1165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51750" y="3848100"/>
            <a:ext cx="38100" cy="9810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3326606"/>
            <a:ext cx="193446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86917" y="3326606"/>
            <a:ext cx="218062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7547" y="3326606"/>
            <a:ext cx="175855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26100" y="3326606"/>
            <a:ext cx="130179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2450" y="3783806"/>
            <a:ext cx="1934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86917" y="3783806"/>
            <a:ext cx="218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7547" y="3783806"/>
            <a:ext cx="17585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26100" y="3783806"/>
            <a:ext cx="1301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2450" y="4231481"/>
            <a:ext cx="19344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6917" y="4231481"/>
            <a:ext cx="218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7547" y="4231481"/>
            <a:ext cx="17585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26100" y="4231481"/>
            <a:ext cx="1301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2925" y="2855118"/>
            <a:ext cx="7194500" cy="18240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2925" y="2855118"/>
          <a:ext cx="7175448" cy="1824037"/>
        </p:xfrm>
        <a:graphic>
          <a:graphicData uri="http://schemas.openxmlformats.org/drawingml/2006/table">
            <a:tbl>
              <a:tblPr/>
              <a:tblGrid>
                <a:gridCol w="1934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009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ciudad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09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Bogotá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09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Juan Pérez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Medellín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34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01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Laura Silva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Cali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Anatomía de una Tabla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200" y="2876550"/>
            <a:ext cx="3359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Columna (Campo/Atributo)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3200" y="4019550"/>
            <a:ext cx="3359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Fila (Registro/Tupla)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1300" y="3114675"/>
            <a:ext cx="33209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Define una propiedad específica de los datos (ej: ciudad).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1300" y="4257675"/>
            <a:ext cx="3320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Representa una entidad individual completa (ej: El cliente Juan Pérez).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529137"/>
            <a:ext cx="11125200" cy="533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471737"/>
            <a:ext cx="3555950" cy="1828800"/>
          </a:xfrm>
          <a:prstGeom prst="roundRect">
            <a:avLst>
              <a:gd name="adj" fmla="val 72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17950" y="2471737"/>
            <a:ext cx="3555950" cy="1828800"/>
          </a:xfrm>
          <a:prstGeom prst="roundRect">
            <a:avLst>
              <a:gd name="adj" fmla="val 72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02500" y="2471737"/>
            <a:ext cx="3555950" cy="1828800"/>
          </a:xfrm>
          <a:prstGeom prst="roundRect">
            <a:avLst>
              <a:gd name="adj" fmla="val 72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7289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125" y="27289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2728912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852737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237" y="285273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313" y="2852737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Ejemplo: Tienda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95275" y="4681537"/>
            <a:ext cx="1278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Pregunta clave: </a:t>
            </a:r>
            <a:r>
              <a:rPr sz="1500" b="1" i="0" u="none">
                <a:solidFill>
                  <a:srgbClr val="2563EB"/>
                </a:solidFill>
                <a:latin typeface="Inter"/>
              </a:rPr>
              <a:t>¿Deberíamos guardar TODO en una sola tabla?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3338512"/>
            <a:ext cx="114498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3700462"/>
            <a:ext cx="36552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Personas que compran en la plataforma.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125" y="3338512"/>
            <a:ext cx="137064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Productos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125" y="3700462"/>
            <a:ext cx="3262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Artículos disponibles en el catálogo.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675" y="3338512"/>
            <a:ext cx="11493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9675" y="3700462"/>
            <a:ext cx="3357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Transacciones de compra realizadas.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31293"/>
            <a:ext cx="11125200" cy="1824037"/>
          </a:xfrm>
          <a:prstGeom prst="roundRect">
            <a:avLst>
              <a:gd name="adj" fmla="val 626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745831"/>
            <a:ext cx="5467350" cy="409575"/>
          </a:xfrm>
          <a:prstGeom prst="roundRect">
            <a:avLst>
              <a:gd name="adj" fmla="val 18604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4745831"/>
            <a:ext cx="5467350" cy="409575"/>
          </a:xfrm>
          <a:prstGeom prst="roundRect">
            <a:avLst>
              <a:gd name="adj" fmla="val 18604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3212306"/>
            <a:ext cx="222111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64035" y="3212306"/>
            <a:ext cx="191482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78858" y="3212306"/>
            <a:ext cx="314027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9132" y="3212306"/>
            <a:ext cx="160838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27517" y="3212306"/>
            <a:ext cx="222155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664743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4035" y="3664743"/>
            <a:ext cx="19148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78858" y="3664743"/>
            <a:ext cx="3140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9132" y="3664743"/>
            <a:ext cx="1608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27517" y="3664743"/>
            <a:ext cx="2221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4102893"/>
            <a:ext cx="22211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64035" y="4102893"/>
            <a:ext cx="19148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78858" y="4102893"/>
            <a:ext cx="3140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9132" y="4102893"/>
            <a:ext cx="16083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27517" y="4102893"/>
            <a:ext cx="22215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4888706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4888706"/>
            <a:ext cx="133350" cy="1333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2925" y="2740818"/>
            <a:ext cx="11106150" cy="18049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2925" y="2740818"/>
          <a:ext cx="11106147" cy="1804987"/>
        </p:xfrm>
        <a:graphic>
          <a:graphicData uri="http://schemas.openxmlformats.org/drawingml/2006/table">
            <a:tbl>
              <a:tblPr/>
              <a:tblGrid>
                <a:gridCol w="222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4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ciudad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producto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precio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fecha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Bogotá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Laptop Pro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$1,200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2026-03-01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Bogotá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Mouse Gamer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2026-03-02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249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Juan Pérez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Medellín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Teclado Mecánico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2026-03-02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El problema de la Tabla Única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2378868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Inter"/>
              </a:rPr>
              <a:t>"Funciona... hasta que deja de funcionar."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60131"/>
            <a:ext cx="5257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91B1B"/>
                </a:solidFill>
                <a:latin typeface="Inter"/>
              </a:rPr>
              <a:t>Redundancia: El nombre y ciudad de Ana se repiten en cada pedido.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3650" y="4860131"/>
            <a:ext cx="5257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91B1B"/>
                </a:solidFill>
                <a:latin typeface="Inter"/>
              </a:rPr>
              <a:t>Inconsistencia: Si Ana cambia de ciudad, hay que actualizar miles de filas.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636043"/>
            <a:ext cx="3606700" cy="1690687"/>
          </a:xfrm>
          <a:prstGeom prst="roundRect">
            <a:avLst>
              <a:gd name="adj" fmla="val 676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2500" y="2636043"/>
            <a:ext cx="3606849" cy="1690687"/>
          </a:xfrm>
          <a:prstGeom prst="roundRect">
            <a:avLst>
              <a:gd name="adj" fmla="val 676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2636043"/>
            <a:ext cx="3606700" cy="1690687"/>
          </a:xfrm>
          <a:prstGeom prst="roundRect">
            <a:avLst>
              <a:gd name="adj" fmla="val 676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2645568"/>
            <a:ext cx="3587650" cy="304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02025" y="2645568"/>
            <a:ext cx="3587799" cy="304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61275" y="2645568"/>
            <a:ext cx="358765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3421856"/>
            <a:ext cx="199920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2133" y="3421856"/>
            <a:ext cx="158844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2025" y="3421856"/>
            <a:ext cx="219253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4561" y="3421856"/>
            <a:ext cx="139526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1275" y="3421856"/>
            <a:ext cx="1892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953476" y="3421856"/>
            <a:ext cx="16954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3874293"/>
            <a:ext cx="19992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42133" y="3874293"/>
            <a:ext cx="1588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02025" y="3874293"/>
            <a:ext cx="2192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4561" y="3874293"/>
            <a:ext cx="13952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1275" y="3874293"/>
            <a:ext cx="1892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53476" y="3874293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4593431"/>
            <a:ext cx="190500" cy="1524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2925" y="2950368"/>
            <a:ext cx="3587650" cy="1366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2925" y="2950368"/>
          <a:ext cx="3587650" cy="1366837"/>
        </p:xfrm>
        <a:graphic>
          <a:graphicData uri="http://schemas.openxmlformats.org/drawingml/2006/table">
            <a:tbl>
              <a:tblPr/>
              <a:tblGrid>
                <a:gridCol w="1999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Juan Pérez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302025" y="2950368"/>
            <a:ext cx="3587799" cy="1366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02025" y="2950368"/>
          <a:ext cx="3587798" cy="1366837"/>
        </p:xfrm>
        <a:graphic>
          <a:graphicData uri="http://schemas.openxmlformats.org/drawingml/2006/table">
            <a:tbl>
              <a:tblPr/>
              <a:tblGrid>
                <a:gridCol w="219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prod_id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precio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$1,200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061275" y="2950368"/>
            <a:ext cx="3587650" cy="1366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061275" y="2950368"/>
          <a:ext cx="3587650" cy="1366837"/>
        </p:xfrm>
        <a:graphic>
          <a:graphicData uri="http://schemas.openxmlformats.org/drawingml/2006/table">
            <a:tbl>
              <a:tblPr/>
              <a:tblGrid>
                <a:gridCol w="18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ped_id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cli_id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5001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5002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Separar para Organizar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37" y="4555331"/>
            <a:ext cx="10525125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>
                <a:solidFill>
                  <a:srgbClr val="1E293B"/>
                </a:solidFill>
                <a:latin typeface="Inter"/>
              </a:rPr>
              <a:t>Al dividir los datos en tablas temáticas, eliminamos la duplicación y conectamos todo mediante identificadores.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" y="2721768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CLIENTES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325" y="2721768"/>
            <a:ext cx="34544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PRODUCTOS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5575" y="2721768"/>
            <a:ext cx="3454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PEDIDOS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855118"/>
            <a:ext cx="5429250" cy="1824037"/>
          </a:xfrm>
          <a:prstGeom prst="roundRect">
            <a:avLst>
              <a:gd name="adj" fmla="val 626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450901"/>
            <a:ext cx="5429250" cy="2857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473773"/>
            <a:ext cx="5429250" cy="6096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4473773"/>
            <a:ext cx="38100" cy="609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8875" y="3336131"/>
            <a:ext cx="292551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64389" y="3336131"/>
            <a:ext cx="248468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8875" y="3788568"/>
            <a:ext cx="29255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64389" y="378856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8875" y="4226718"/>
            <a:ext cx="29255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64389" y="422671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8875" y="2864643"/>
            <a:ext cx="5410200" cy="18049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8875" y="2864643"/>
          <a:ext cx="5410199" cy="1804987"/>
        </p:xfrm>
        <a:graphic>
          <a:graphicData uri="http://schemas.openxmlformats.org/drawingml/2006/table">
            <a:tbl>
              <a:tblPr/>
              <a:tblGrid>
                <a:gridCol w="2925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cliente_id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24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Juan Pérez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24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Fira Code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Laura Silva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Primary Key (Clave Primaria)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2508051"/>
            <a:ext cx="52578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Inter"/>
              </a:rPr>
              <a:t>IDENTIFICADOR ÚNICO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889051"/>
            <a:ext cx="58007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Plus Jakarta Sans"/>
              </a:rPr>
              <a:t>"¿Cómo identificamos cada registro sin ambigüedad?"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708201"/>
            <a:ext cx="55245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La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Primary Key (PK)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es un campo cuyo valor identifica de forma única a una sola fila en toda la tabla.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4588073"/>
            <a:ext cx="5295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Regla de oro: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No puede repetirse jamás y nunca puede estar vacía (NULL).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17601"/>
            <a:ext cx="5429250" cy="2857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2328862"/>
            <a:ext cx="5429250" cy="1204912"/>
          </a:xfrm>
          <a:prstGeom prst="roundRect">
            <a:avLst>
              <a:gd name="adj" fmla="val 948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29350" y="4000500"/>
            <a:ext cx="5429250" cy="1204912"/>
          </a:xfrm>
          <a:prstGeom prst="roundRect">
            <a:avLst>
              <a:gd name="adj" fmla="val 948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38875" y="2338387"/>
            <a:ext cx="5410200" cy="2571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8875" y="4010025"/>
            <a:ext cx="5410200" cy="25717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8875" y="3067050"/>
            <a:ext cx="310976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48638" y="3067050"/>
            <a:ext cx="230043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8875" y="4738687"/>
            <a:ext cx="27418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80735" y="4738687"/>
            <a:ext cx="266833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537" y="3667125"/>
            <a:ext cx="142875" cy="190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38875" y="2595562"/>
            <a:ext cx="5410200" cy="9286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8875" y="2595562"/>
          <a:ext cx="5410199" cy="928687"/>
        </p:xfrm>
        <a:graphic>
          <a:graphicData uri="http://schemas.openxmlformats.org/drawingml/2006/table">
            <a:tbl>
              <a:tblPr/>
              <a:tblGrid>
                <a:gridCol w="310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38875" y="4267200"/>
            <a:ext cx="5410200" cy="9286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38875" y="4267200"/>
          <a:ext cx="5410199" cy="928687"/>
        </p:xfrm>
        <a:graphic>
          <a:graphicData uri="http://schemas.openxmlformats.org/drawingml/2006/table">
            <a:tbl>
              <a:tblPr/>
              <a:tblGrid>
                <a:gridCol w="274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pedido_id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9901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Foreign Key (Clave Foránea)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774751"/>
            <a:ext cx="52578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Inter"/>
              </a:rPr>
              <a:t>CONECTOR DE TABLAS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3155751"/>
            <a:ext cx="712589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Plus Jakarta Sans"/>
              </a:rPr>
              <a:t>"¿Cómo conectamos las tablas?"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3641526"/>
            <a:ext cx="55245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La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Foreign Key (FK)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es una columna en una tabla que hace referencia a la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Primary Key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 otra tabla.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273748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Permite vincular información (por ejemplo, saber exactamente qué cliente realizó un pedido concreto).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3175" y="2395537"/>
            <a:ext cx="527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TABLA CLIENTES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3175" y="4067175"/>
            <a:ext cx="527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Inter"/>
              </a:rPr>
              <a:t>TABLA PEDIDOS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528887"/>
            <a:ext cx="5429250" cy="2476500"/>
          </a:xfrm>
          <a:prstGeom prst="roundRect">
            <a:avLst>
              <a:gd name="adj" fmla="val 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2528887"/>
            <a:ext cx="5429250" cy="2476500"/>
          </a:xfrm>
          <a:prstGeom prst="roundRect">
            <a:avLst>
              <a:gd name="adj" fmla="val 538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995862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528887"/>
            <a:ext cx="54292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528887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53125" y="2528887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29350" y="4995862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29350" y="2528887"/>
            <a:ext cx="5429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9350" y="2528887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49075" y="2528887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6775" y="2833687"/>
            <a:ext cx="1104900" cy="238125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62725" y="2833687"/>
            <a:ext cx="1095375" cy="238125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24802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624262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000500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376737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248025"/>
            <a:ext cx="2190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624262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4000500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4376737"/>
            <a:ext cx="219075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Primary Key vs Foreign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2871787"/>
            <a:ext cx="1009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Inter"/>
              </a:rPr>
              <a:t>PRIMARY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425" y="3224212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Identifica: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Define unívocamente una fila.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425" y="3600450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Única: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No acepta duplicados.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425" y="3976687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No nula: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Siempre debe tener un valor.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" y="4352925"/>
            <a:ext cx="5791200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Una por tabla (conceptual).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7975" y="2871787"/>
            <a:ext cx="10001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Inter"/>
              </a:rPr>
              <a:t>FOREIGN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0375" y="3224212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Conecta: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Hace referencia a otra tabla.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0375" y="3600450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Repetible: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Puede aparecer muchas veces.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0375" y="3976687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Opcional: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En ocasiones acepta valores nulos.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0375" y="4352925"/>
            <a:ext cx="53816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Puede haber múltiples FKs en una tabla.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38462"/>
            <a:ext cx="3555950" cy="2295525"/>
          </a:xfrm>
          <a:prstGeom prst="roundRect">
            <a:avLst>
              <a:gd name="adj" fmla="val 58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938462"/>
            <a:ext cx="3555950" cy="2295525"/>
          </a:xfrm>
          <a:prstGeom prst="roundRect">
            <a:avLst>
              <a:gd name="adj" fmla="val 5809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938462"/>
            <a:ext cx="3555950" cy="2295525"/>
          </a:xfrm>
          <a:prstGeom prst="roundRect">
            <a:avLst>
              <a:gd name="adj" fmla="val 58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1956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125" y="31956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9675" y="319563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3319462"/>
            <a:ext cx="1905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950" y="331946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3319462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Relaciones entre Tablas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6328" y="2300287"/>
            <a:ext cx="449919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2563EB"/>
                </a:solidFill>
                <a:latin typeface="Plus Jakarta Sans"/>
              </a:rPr>
              <a:t>"Las tablas hablan entre ellas"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805237"/>
            <a:ext cx="191938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1 : 1 (Uno a Uno)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4167187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Un registro de A se relaciona con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únicamente uno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de 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4833937"/>
            <a:ext cx="12763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Ej: Persona ↔ DNI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125" y="3805237"/>
            <a:ext cx="250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1 : N (Uno a Muchos)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125" y="4167187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Un registro de A se relaciona con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muchos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de B. Es el más común.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125" y="4833937"/>
            <a:ext cx="1464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Ej: Cliente ↔ 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9675" y="3805237"/>
            <a:ext cx="30865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N : N (Muchos a Muchos)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9675" y="4167187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Muchos registros de A se relacionan con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muchos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de 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9675" y="4833937"/>
            <a:ext cx="1643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Ej: Estudiante ↔ Cursos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64593"/>
            <a:ext cx="11125200" cy="647700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559968"/>
            <a:ext cx="3793331" cy="1290637"/>
          </a:xfrm>
          <a:prstGeom prst="roundRect">
            <a:avLst>
              <a:gd name="adj" fmla="val 885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7979" y="3340893"/>
            <a:ext cx="5680620" cy="1728787"/>
          </a:xfrm>
          <a:prstGeom prst="roundRect">
            <a:avLst>
              <a:gd name="adj" fmla="val 6611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3569493"/>
            <a:ext cx="3774281" cy="342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7504" y="3350418"/>
            <a:ext cx="5661570" cy="342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4383881"/>
            <a:ext cx="216946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12392" y="4383881"/>
            <a:ext cx="160481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7504" y="4164806"/>
            <a:ext cx="222572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13228" y="4164806"/>
            <a:ext cx="216589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79124" y="4164806"/>
            <a:ext cx="12699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7504" y="4617243"/>
            <a:ext cx="222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3228" y="4617243"/>
            <a:ext cx="2165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79124" y="4617243"/>
            <a:ext cx="1269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979" y="4048125"/>
            <a:ext cx="190500" cy="3048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42925" y="3912393"/>
            <a:ext cx="3774281" cy="9286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2925" y="3912393"/>
          <a:ext cx="3774280" cy="928687"/>
        </p:xfrm>
        <a:graphic>
          <a:graphicData uri="http://schemas.openxmlformats.org/drawingml/2006/table">
            <a:tbl>
              <a:tblPr/>
              <a:tblGrid>
                <a:gridCol w="2169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nombre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Ana Gómez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987504" y="3693318"/>
            <a:ext cx="5661570" cy="1366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87504" y="3693318"/>
          <a:ext cx="5661569" cy="1366837"/>
        </p:xfrm>
        <a:graphic>
          <a:graphicData uri="http://schemas.openxmlformats.org/drawingml/2006/table">
            <a:tbl>
              <a:tblPr/>
              <a:tblGrid>
                <a:gridCol w="2225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pedido_id PK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cliente_id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901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902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$45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Relación 1:N (Uno a Muchos)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333375" y="2655093"/>
            <a:ext cx="12858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40AF"/>
                </a:solidFill>
                <a:latin typeface="Inter"/>
              </a:rPr>
              <a:t>"Un cliente puede realizar MUCHOS pedidos."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231" y="4019550"/>
            <a:ext cx="1587810" cy="3714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Inter"/>
              </a:rPr>
              <a:t>─────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3645693"/>
            <a:ext cx="364093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CLIENTE 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1804" y="3426618"/>
            <a:ext cx="552822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PEDIDOS (N)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381375"/>
            <a:ext cx="3142059" cy="1204912"/>
          </a:xfrm>
          <a:prstGeom prst="roundRect">
            <a:avLst>
              <a:gd name="adj" fmla="val 948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46934" y="3152775"/>
            <a:ext cx="4098131" cy="1662112"/>
          </a:xfrm>
          <a:prstGeom prst="roundRect">
            <a:avLst>
              <a:gd name="adj" fmla="val 6876"/>
            </a:avLst>
          </a:prstGeom>
          <a:noFill/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16540" y="3381375"/>
            <a:ext cx="3142059" cy="1204912"/>
          </a:xfrm>
          <a:prstGeom prst="roundRect">
            <a:avLst>
              <a:gd name="adj" fmla="val 9486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3390900"/>
            <a:ext cx="3123009" cy="2571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5984" y="3171825"/>
            <a:ext cx="4060031" cy="257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26065" y="3390900"/>
            <a:ext cx="3123009" cy="2571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4119562"/>
            <a:ext cx="312300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5984" y="3900487"/>
            <a:ext cx="187865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4641" y="3900487"/>
            <a:ext cx="218137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26065" y="4119562"/>
            <a:ext cx="312300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5984" y="4352925"/>
            <a:ext cx="1878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4641" y="4352925"/>
            <a:ext cx="2181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759" y="3907631"/>
            <a:ext cx="142875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365" y="3907631"/>
            <a:ext cx="142875" cy="152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42925" y="3648075"/>
            <a:ext cx="3123009" cy="9286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2925" y="3648075"/>
          <a:ext cx="3123009" cy="928687"/>
        </p:xfrm>
        <a:graphic>
          <a:graphicData uri="http://schemas.openxmlformats.org/drawingml/2006/table">
            <a:tbl>
              <a:tblPr/>
              <a:tblGrid>
                <a:gridCol w="312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estudiante_id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E-10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065984" y="3429000"/>
            <a:ext cx="4060031" cy="1366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065984" y="3429000"/>
          <a:ext cx="4060030" cy="1366837"/>
        </p:xfrm>
        <a:graphic>
          <a:graphicData uri="http://schemas.openxmlformats.org/drawingml/2006/table">
            <a:tbl>
              <a:tblPr/>
              <a:tblGrid>
                <a:gridCol w="187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est_id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curso_id FK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E-10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C-101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E-10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C-102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526065" y="3648075"/>
            <a:ext cx="3123009" cy="9286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526065" y="3648075"/>
          <a:ext cx="3123009" cy="928687"/>
        </p:xfrm>
        <a:graphic>
          <a:graphicData uri="http://schemas.openxmlformats.org/drawingml/2006/table">
            <a:tbl>
              <a:tblPr/>
              <a:tblGrid>
                <a:gridCol w="312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curso_id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Fira Code"/>
                        </a:rPr>
                        <a:t>C-101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Relación N:N (Tabla Intermedia)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719387"/>
            <a:ext cx="1052512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Las relaciones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Muchos a Muchos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no se pueden representar directamente. Se resuelven con una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Tabla Intermedia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" y="3448050"/>
            <a:ext cx="302775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nter"/>
              </a:rPr>
              <a:t>ESTUDIANTES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1234" y="3228975"/>
            <a:ext cx="396478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MATRÍCULAS (Intermedia)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1315" y="3448050"/>
            <a:ext cx="302775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nter"/>
              </a:rPr>
              <a:t>CURSOS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95587"/>
            <a:ext cx="3555950" cy="1943100"/>
          </a:xfrm>
          <a:prstGeom prst="roundRect">
            <a:avLst>
              <a:gd name="adj" fmla="val 68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795587"/>
            <a:ext cx="3555950" cy="1943100"/>
          </a:xfrm>
          <a:prstGeom prst="roundRect">
            <a:avLst>
              <a:gd name="adj" fmla="val 68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795587"/>
            <a:ext cx="3555950" cy="1943100"/>
          </a:xfrm>
          <a:prstGeom prst="roundRect">
            <a:avLst>
              <a:gd name="adj" fmla="val 68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0575" y="3052762"/>
            <a:ext cx="30416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5125" y="3052762"/>
            <a:ext cx="3041600" cy="381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59675" y="3052762"/>
            <a:ext cx="3041600" cy="3810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Modelo Entidad-Relación (DER)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148012"/>
            <a:ext cx="2832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Inter"/>
              </a:rPr>
              <a:t>ENTIDAD (Rectángulo)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3548062"/>
            <a:ext cx="15148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Objeto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910012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Cosas o conceptos sobre los que guardamos datos (ej: Cliente, Producto).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525" y="3148012"/>
            <a:ext cx="2832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45309"/>
                </a:solidFill>
                <a:latin typeface="Inter"/>
              </a:rPr>
              <a:t>ATRIBUTO (Óvalo)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125" y="3548062"/>
            <a:ext cx="139064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Propiedad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125" y="3910012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Características que describen a la entidad (ej: Nombre, Precio, Email).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2075" y="3148012"/>
            <a:ext cx="2832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5803D"/>
                </a:solidFill>
                <a:latin typeface="Inter"/>
              </a:rPr>
              <a:t>RELACIÓN (Rombo)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675" y="3548062"/>
            <a:ext cx="10593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Vínculo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9675" y="3910012"/>
            <a:ext cx="3136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Cómo interactúan las entidades entre sí (ej: Cliente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realiza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Pedido).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381375"/>
            <a:ext cx="19050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8450" y="3381375"/>
            <a:ext cx="19050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43500" y="3381375"/>
            <a:ext cx="19050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48550" y="3381375"/>
            <a:ext cx="1905000" cy="771525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53600" y="3381375"/>
            <a:ext cx="1905000" cy="771525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67188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67188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67188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50" y="3671887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Resumen de Conceptos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581400"/>
            <a:ext cx="1066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REALIDAD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810000"/>
            <a:ext cx="8953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34155"/>
                </a:solidFill>
                <a:latin typeface="Inter"/>
              </a:rPr>
              <a:t>Mundo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5162" y="3581400"/>
            <a:ext cx="1171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ENTIDADES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7562" y="3810000"/>
            <a:ext cx="8667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34155"/>
                </a:solidFill>
                <a:latin typeface="Inter"/>
              </a:rPr>
              <a:t>Conceptos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8325" y="3581400"/>
            <a:ext cx="8953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TABLAS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3562" y="3810000"/>
            <a:ext cx="904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34155"/>
                </a:solidFill>
                <a:latin typeface="Inter"/>
              </a:rPr>
              <a:t>Estructuras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81400"/>
            <a:ext cx="12573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RELACIONES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2912" y="3810000"/>
            <a:ext cx="676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34155"/>
                </a:solidFill>
                <a:latin typeface="Inter"/>
              </a:rPr>
              <a:t>PK / 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0053" y="3581400"/>
            <a:ext cx="1512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BASE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2237" y="3810000"/>
            <a:ext cx="847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563EB"/>
                </a:solidFill>
                <a:latin typeface="Inter"/>
              </a:rPr>
              <a:t>Relacional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973</Words>
  <Application>Microsoft Office PowerPoint</Application>
  <PresentationFormat>Panorámica</PresentationFormat>
  <Paragraphs>231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Plus Jakarta Sans</vt:lpstr>
      <vt:lpstr>Arial</vt:lpstr>
      <vt:lpstr>Inter</vt:lpstr>
      <vt:lpstr>Fira Code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Viviana Gonzalez</dc:creator>
  <cp:keywords/>
  <dc:description>generated using python-pptx</dc:description>
  <cp:lastModifiedBy>Viviana Gonzalez</cp:lastModifiedBy>
  <cp:revision>2</cp:revision>
  <dcterms:created xsi:type="dcterms:W3CDTF">2013-01-27T09:14:16Z</dcterms:created>
  <dcterms:modified xsi:type="dcterms:W3CDTF">2026-09-18T13:54:34Z</dcterms:modified>
  <cp:category/>
</cp:coreProperties>
</file>